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EA4B7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011680"/>
            <a:ext cx="4023360" cy="4023360"/>
          </a:xfrm>
          <a:prstGeom prst="ellipse">
            <a:avLst/>
          </a:prstGeom>
          <a:solidFill>
            <a:srgbClr val="12B5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17320"/>
            <a:ext cx="146304" cy="338328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· OPENROUTER(CLAUDE) · SUPABASE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19659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최신 뉴스 자동화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세팅 가이드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주기 수집 → AI 톤 재작성 → 검수(Telegram·CMS) → 게시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순서 · 설정값 · 복붙용 코드 포함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아키텍처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n8n 워크플로로 구성됩니다.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201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128016" cy="187452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4B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— 수집 (5일 주기)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212848"/>
            <a:ext cx="1531620" cy="960120"/>
          </a:xfrm>
          <a:prstGeom prst="roundRect">
            <a:avLst>
              <a:gd name="adj" fmla="val 6667"/>
            </a:avLst>
          </a:prstGeom>
          <a:solidFill>
            <a:srgbClr val="EA4B7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14401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(5일)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90572" y="221284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01468" y="2212848"/>
            <a:ext cx="1531620" cy="960120"/>
          </a:xfrm>
          <a:prstGeom prst="roundRect">
            <a:avLst>
              <a:gd name="adj" fmla="val 6667"/>
            </a:avLst>
          </a:prstGeom>
          <a:solidFill>
            <a:srgbClr val="12B5A6"/>
          </a:solidFill>
          <a:ln/>
        </p:spPr>
      </p:sp>
      <p:sp>
        <p:nvSpPr>
          <p:cNvPr id="11" name="Text 9"/>
          <p:cNvSpPr/>
          <p:nvPr/>
        </p:nvSpPr>
        <p:spPr>
          <a:xfrm>
            <a:off x="2647188" y="2212848"/>
            <a:ext cx="14401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221284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25696" y="2212848"/>
            <a:ext cx="1531620" cy="960120"/>
          </a:xfrm>
          <a:prstGeom prst="roundRect">
            <a:avLst>
              <a:gd name="adj" fmla="val 6667"/>
            </a:avLst>
          </a:prstGeom>
          <a:solidFill>
            <a:srgbClr val="8B6CEF"/>
          </a:solidFill>
          <a:ln/>
        </p:spPr>
      </p:sp>
      <p:sp>
        <p:nvSpPr>
          <p:cNvPr id="14" name="Text 12"/>
          <p:cNvSpPr/>
          <p:nvPr/>
        </p:nvSpPr>
        <p:spPr>
          <a:xfrm>
            <a:off x="4471416" y="2212848"/>
            <a:ext cx="14401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39028" y="221284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49924" y="2212848"/>
            <a:ext cx="1531620" cy="960120"/>
          </a:xfrm>
          <a:prstGeom prst="roundRect">
            <a:avLst>
              <a:gd name="adj" fmla="val 6667"/>
            </a:avLst>
          </a:prstGeom>
          <a:solidFill>
            <a:srgbClr val="EFA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295644" y="2212848"/>
            <a:ext cx="14401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OpenRouter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(Claude)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63256" y="221284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74152" y="2212848"/>
            <a:ext cx="1531620" cy="960120"/>
          </a:xfrm>
          <a:prstGeom prst="roundRect">
            <a:avLst>
              <a:gd name="adj" fmla="val 6667"/>
            </a:avLst>
          </a:prstGeom>
          <a:solidFill>
            <a:srgbClr val="2FBF7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9872" y="2212848"/>
            <a:ext cx="14401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draft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87484" y="221284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898380" y="2212848"/>
            <a:ext cx="1531620" cy="960120"/>
          </a:xfrm>
          <a:prstGeom prst="roundRect">
            <a:avLst>
              <a:gd name="adj" fmla="val 6667"/>
            </a:avLst>
          </a:prstGeom>
          <a:solidFill>
            <a:srgbClr val="2AA4DD"/>
          </a:solidFill>
          <a:ln/>
        </p:spPr>
      </p:sp>
      <p:sp>
        <p:nvSpPr>
          <p:cNvPr id="23" name="Text 21"/>
          <p:cNvSpPr/>
          <p:nvPr/>
        </p:nvSpPr>
        <p:spPr>
          <a:xfrm>
            <a:off x="9944100" y="2212848"/>
            <a:ext cx="14401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11201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794760"/>
            <a:ext cx="128016" cy="187452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959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2 — 게시 처리 (Telegram 콜백)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4453128"/>
            <a:ext cx="1896466" cy="960120"/>
          </a:xfrm>
          <a:prstGeom prst="roundRect">
            <a:avLst>
              <a:gd name="adj" fmla="val 6667"/>
            </a:avLst>
          </a:prstGeom>
          <a:solidFill>
            <a:srgbClr val="2AA4D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453128"/>
            <a:ext cx="180502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탭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55418" y="445312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966314" y="4453128"/>
            <a:ext cx="1896466" cy="960120"/>
          </a:xfrm>
          <a:prstGeom prst="roundRect">
            <a:avLst>
              <a:gd name="adj" fmla="val 6667"/>
            </a:avLst>
          </a:prstGeom>
          <a:solidFill>
            <a:srgbClr val="EFA92B"/>
          </a:solidFill>
          <a:ln/>
        </p:spPr>
      </p:sp>
      <p:sp>
        <p:nvSpPr>
          <p:cNvPr id="31" name="Text 29"/>
          <p:cNvSpPr/>
          <p:nvPr/>
        </p:nvSpPr>
        <p:spPr>
          <a:xfrm>
            <a:off x="3012034" y="4453128"/>
            <a:ext cx="180502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callback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4491" y="445312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155387" y="4453128"/>
            <a:ext cx="1896466" cy="960120"/>
          </a:xfrm>
          <a:prstGeom prst="roundRect">
            <a:avLst>
              <a:gd name="adj" fmla="val 6667"/>
            </a:avLst>
          </a:prstGeom>
          <a:solidFill>
            <a:srgbClr val="8B6CEF"/>
          </a:solidFill>
          <a:ln/>
        </p:spPr>
      </p:sp>
      <p:sp>
        <p:nvSpPr>
          <p:cNvPr id="34" name="Text 32"/>
          <p:cNvSpPr/>
          <p:nvPr/>
        </p:nvSpPr>
        <p:spPr>
          <a:xfrm>
            <a:off x="5201107" y="4453128"/>
            <a:ext cx="180502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33565" y="445312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344461" y="4453128"/>
            <a:ext cx="1896466" cy="960120"/>
          </a:xfrm>
          <a:prstGeom prst="roundRect">
            <a:avLst>
              <a:gd name="adj" fmla="val 6667"/>
            </a:avLst>
          </a:prstGeom>
          <a:solidFill>
            <a:srgbClr val="2FBF71"/>
          </a:solidFill>
          <a:ln/>
        </p:spPr>
      </p:sp>
      <p:sp>
        <p:nvSpPr>
          <p:cNvPr id="37" name="Text 35"/>
          <p:cNvSpPr/>
          <p:nvPr/>
        </p:nvSpPr>
        <p:spPr>
          <a:xfrm>
            <a:off x="7390181" y="4453128"/>
            <a:ext cx="180502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변경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222638" y="4453128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9533534" y="4453128"/>
            <a:ext cx="1896466" cy="960120"/>
          </a:xfrm>
          <a:prstGeom prst="roundRect">
            <a:avLst>
              <a:gd name="adj" fmla="val 6667"/>
            </a:avLst>
          </a:prstGeom>
          <a:solidFill>
            <a:srgbClr val="EA4B71"/>
          </a:solidFill>
          <a:ln/>
        </p:spPr>
      </p:sp>
      <p:sp>
        <p:nvSpPr>
          <p:cNvPr id="40" name="Text 38"/>
          <p:cNvSpPr/>
          <p:nvPr/>
        </p:nvSpPr>
        <p:spPr>
          <a:xfrm>
            <a:off x="9579254" y="4453128"/>
            <a:ext cx="1805026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/api/revalidate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반영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사이트는 news_items 테이블에서 status='published' 만 최신순으로 노출 (4건씩 페이지네이션, 최대 40건).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 — 자격증명 / 환경변수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에 아래 값을 자격증명 또는 환경변수($env)로 등록하세요.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0916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 /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OPENROUTER_API_KEY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호출용 API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openrouter.ai → Keys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SUPABASE_URL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https://wnddkgeohcgcidoklrps.supabase.co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SUPABASE_SERVICE_ROLE_KEY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RLS 우회 INSERT/UPDATE (비공개!)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 → Settings → API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TELEGRAM_BOT_TOKEN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+ 버튼 봇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접수 알림 봇 재사용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TELEGRAM_CHAT_ID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수신 대상 chat 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chat 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REVALIDATE_SECRET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 후 캐시 무효화 토큰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Vercel 환경변수와 동일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SITE_URL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https://digital-rescue.com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63500" marB="635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80644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CEEF1"/>
          </a:solidFill>
          <a:ln w="12700">
            <a:solidFill>
              <a:srgbClr val="F4C9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806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service_role 키는 모든 RLS를 우회합니다. </a:t>
            </a:r>
            <a:pPr indent="0" marL="0">
              <a:buNone/>
            </a:pPr>
            <a:r>
              <a:rPr lang="en-US" sz="1250" dirty="0">
                <a:solidFill>
                  <a:srgbClr val="8A25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서버에만 두고 절대 외부 노출 금지.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572000" cy="4572000"/>
          </a:xfrm>
          <a:prstGeom prst="ellipse">
            <a:avLst/>
          </a:prstGeom>
          <a:solidFill>
            <a:srgbClr val="EA4B71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C23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0"/>
            <a:ext cx="146304" cy="91440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— 수집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07008" y="3950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5일에 한 번, RSS를 모아 AI로 다듬고 초안(draft)으로 적재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07008" y="4800600"/>
            <a:ext cx="1335024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48006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4800600"/>
            <a:ext cx="1335024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8006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RSS 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48006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Sort·Limit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4800600"/>
            <a:ext cx="896112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48006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중복제거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48006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87968" y="4800600"/>
            <a:ext cx="676656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968" y="4800600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65792" y="4800600"/>
            <a:ext cx="1335024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5792" y="48006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301984" y="4800600"/>
            <a:ext cx="1335024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1984" y="48006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 Trigger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1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632643" y="50292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/>
        </p:spPr>
      </p:sp>
      <p:sp>
        <p:nvSpPr>
          <p:cNvPr id="9" name="Text 7"/>
          <p:cNvSpPr/>
          <p:nvPr/>
        </p:nvSpPr>
        <p:spPr>
          <a:xfrm>
            <a:off x="10632643" y="502920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4B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설정값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5852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38328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Trigger Rules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Interval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Field (단위)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Days Between Triggers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Trigger at Hour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 (오전 8시)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Trigger at Minute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583680" y="2011680"/>
            <a:ext cx="5120640" cy="1371600"/>
          </a:xfrm>
          <a:prstGeom prst="roundRect">
            <a:avLst>
              <a:gd name="adj" fmla="val 4667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1228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참고 — 크론 대신 Interval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30568" y="2487168"/>
            <a:ext cx="4626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8 */5 * *  (크론) 은 매월 말일에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간격이 어긋남(31일 → 다음달 1일).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Interval/Days=5 를 권장.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0" y="36118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122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12280" y="41148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시점부터 5일 간격으로 워크플로 1 전체를 실행합니다.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실행 시 RSS에서 1~3건만 처리하도록 뒤에서 Limit 합니다.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RSS Read (RSS Feed Read)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2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824667" y="502920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2B5A6"/>
          </a:solidFill>
          <a:ln/>
        </p:spPr>
      </p:sp>
      <p:sp>
        <p:nvSpPr>
          <p:cNvPr id="9" name="Text 7"/>
          <p:cNvSpPr/>
          <p:nvPr/>
        </p:nvSpPr>
        <p:spPr>
          <a:xfrm>
            <a:off x="10824667" y="502920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설정값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56692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Credential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 (공개 RSS)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↓ 아래 코드 참조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Options › Ignore SSL Issues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02920" y="3657600"/>
            <a:ext cx="11201400" cy="1143000"/>
          </a:xfrm>
          <a:prstGeom prst="roundRect">
            <a:avLst>
              <a:gd name="adj" fmla="val 5600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3776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— Google News RSS (IT, 최근 5일, 한국어)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9808" y="4133088"/>
            <a:ext cx="1070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https://news.google.com/rss/search?q=IT%20OR%20노트북%20OR%20데이터복구%20when:5d&amp;hl=ko&amp;gl=KR&amp;ceid=KR:ko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98348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51023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매체를 함께 쓰려면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전자신문·ZDNet Korea·Bloter 등의 RSS URL로 RSS Read 노드를 추가하고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B6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Merge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노드(Mode: Append)로 합친 뒤 다음 단계로 보냅니다. 각 매체 RSS 주소는 해당 사이트에서 확인하세요.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8B6CE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8B6CE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Sort + Limit (정렬 · 건수 제한)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3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824667" y="502920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8B6CEF"/>
          </a:solidFill>
          <a:ln/>
        </p:spPr>
      </p:sp>
      <p:sp>
        <p:nvSpPr>
          <p:cNvPr id="9" name="Text 7"/>
          <p:cNvSpPr/>
          <p:nvPr/>
        </p:nvSpPr>
        <p:spPr>
          <a:xfrm>
            <a:off x="10824667" y="502920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① SORT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Sort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Sort Field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isoDate (또는 pubDate)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Descending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② LIMIT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5196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Limit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 Items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(회당 처리 건수)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Keep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 Items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400800" y="20116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62940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제한하나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629400" y="256032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최신순으로 정렬 후 회당 1~3건만 남깁니다.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너무 많은 초안이 쌓이면 검수 부담이 커지고, OpenRouter 호출 비용도 늘어납니다.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주기 × 2건이면 한 달에 약 12건 — 검수하기 적당한 양입니다.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8B6CE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8B6CE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 (HTTP Request + IF)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4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824667" y="502920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8B6CEF"/>
          </a:solidFill>
          <a:ln/>
        </p:spPr>
      </p:sp>
      <p:sp>
        <p:nvSpPr>
          <p:cNvPr id="9" name="Text 7"/>
          <p:cNvSpPr/>
          <p:nvPr/>
        </p:nvSpPr>
        <p:spPr>
          <a:xfrm>
            <a:off x="10824667" y="502920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① HTTP REQUEST — SUPABASE 조회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Send Headers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 배열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715000" y="1965960"/>
            <a:ext cx="5989320" cy="1965960"/>
          </a:xfrm>
          <a:prstGeom prst="roundRect">
            <a:avLst>
              <a:gd name="adj" fmla="val 3256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08483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&amp; Headers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61888" y="2441448"/>
            <a:ext cx="5495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{{$env.SUPABASE_URL}}/rest/v1/news_items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?source_url=eq.{{encodeURIComponent($json.link)}}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&amp;select=id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apikey:        {{$env.SUPABASE_SERVICE_ROLE_KEY}}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Authorization: Bearer {{$env.SUPABASE_SERVICE_ROLE_KEY}}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029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② IF — 신규만 통과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4480560"/>
            <a:ext cx="11201400" cy="1463040"/>
          </a:xfrm>
          <a:prstGeom prst="roundRect">
            <a:avLst>
              <a:gd name="adj" fmla="val 4375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31520" y="459943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9808" y="4956048"/>
            <a:ext cx="1070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 (Number):   {{ $json.length }}   equals   0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true  : 처음 보는 기사 → 다음 단계(OpenRouter)로 진행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false : 이미 수집됨 → 중단(폐기). 테이블의 source_url UNIQUE 가 최종 안전망.</a:t>
            </a:r>
            <a:endParaRPr lang="en-US" sz="118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FA92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EFA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OpenRouter 호출 — HTTP Request (1/3 설정)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5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20679" y="502920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EFA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20679" y="5029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A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설정값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5577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https://openrouter.ai/api/v1/chat/completions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Authentication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 (헤더로 직접)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Body Content 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 / Raw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Send Headers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263640" y="2011680"/>
            <a:ext cx="5440680" cy="2468880"/>
          </a:xfrm>
          <a:prstGeom prst="roundRect">
            <a:avLst>
              <a:gd name="adj" fmla="val 2593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21305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10528" y="2487168"/>
            <a:ext cx="4946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Bearer {{$env.OPENROUTER_API_KEY}}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application/json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HTTP-Referer:        (선택)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https://digital-rescue.com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X-Title:             (선택)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 Rescue News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FA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본문(Body) JSON 과 프롬프트는 다음 2장에 이어집니다 →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FA92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EFA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OpenRouter 호출 — 요청 본문 (2/3 Body JSON)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5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20679" y="502920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EFA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20679" y="5029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11201400" cy="4663440"/>
          </a:xfrm>
          <a:prstGeom prst="roundRect">
            <a:avLst>
              <a:gd name="adj" fmla="val 1373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76479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(JSON) — messages 의 content 전문은 다음 장 참조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107076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"anthropic/claude-3.5-haiku",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"response_format": { "type": "json_object" },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"role": "system",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"content": "‹SYSTEM 프롬프트 — 다음 장›"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"role": "user",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"content": "‹USER 프롬프트 — 다음 장›"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품질을 더 원하면 model 을 "anthropic/claude-3.7-sonnet" 등으로 교체.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FA92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EFA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OpenRouter 호출 — 프롬프트 (3/3)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5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20679" y="502920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EFA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20679" y="5029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11201400" cy="2148840"/>
          </a:xfrm>
          <a:prstGeom prst="roundRect">
            <a:avLst>
              <a:gd name="adj" fmla="val 2979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76479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· content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107076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당신은 IT 수리·데이터복구 전문기업 '디지털레스큐'의 콘텐츠 에디터입니다.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입력된 IT 뉴스를 일반 고객이 이해하기 쉬운 한국어로 요약·재작성합니다. 규칙: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반드시 사실에 근거하고, 원문에 없는 수치·주장을 지어내지 말 것.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마지막 문단에 수리/데이터 보존/예방 관점 한두 문장을 자연스러울 때만 덧붙이고, 억지면 생략.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(3) 과장 광고 금지.  (4) 반드시 JSON 객체만 출력.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11201400" cy="2377440"/>
          </a:xfrm>
          <a:prstGeom prst="roundRect">
            <a:avLst>
              <a:gd name="adj" fmla="val 2692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5079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· content (템플릿 — {{ }} 는 RSS 항목 매핑)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407408"/>
            <a:ext cx="10707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기사를 가공해 JSON으로만 답하세요.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제목: {{ $json.title }}   출처: {{ $json.source }}   원문URL: {{ $json.link }}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발췌: {{ $json.contentSnippet || $json.content }}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형식: {"title":"다듬은 제목", "summary":"한 문장 요약(80자 내외)",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E7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"body":"2~3문단 (문단 사이는 빈 줄로 구분)"}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FA92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EFA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파싱 — Code 노드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5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36631" y="50292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EFA92B"/>
          </a:solidFill>
          <a:ln/>
        </p:spPr>
      </p:sp>
      <p:sp>
        <p:nvSpPr>
          <p:cNvPr id="9" name="Text 7"/>
          <p:cNvSpPr/>
          <p:nvPr/>
        </p:nvSpPr>
        <p:spPr>
          <a:xfrm>
            <a:off x="10536631" y="502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OpenRouter 응답의 choices[0].message.content (JSON 문자열) 을 파싱하고, RSS 원본의 출처·URL을 합칩니다.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11201400" cy="3657600"/>
          </a:xfrm>
          <a:prstGeom prst="roundRect">
            <a:avLst>
              <a:gd name="adj" fmla="val 1750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31343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(JavaScript) — Run Once for Each Item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2670048"/>
            <a:ext cx="107076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raw = $json.choices[0].message.content;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ai = JSON.parse(raw);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RSS 원본 항목(출처·링크·날짜)을 함께 보존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src = $('RSS Read').item.json;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json: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     ai.title,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   ai.summary,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      ai.body,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source:     src.source || src.creator || 'IT News',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source_url: src.link,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news_date:  (src.isoDate || new Date().toISOString()).slice(0, 10),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FBF7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적재 — HTTP Request (INSERT draft)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6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36631" y="50292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9" name="Text 7"/>
          <p:cNvSpPr/>
          <p:nvPr/>
        </p:nvSpPr>
        <p:spPr>
          <a:xfrm>
            <a:off x="10536631" y="502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설정값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{{$env.SUPABASE_URL}}/rest/v1/news_items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Headers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apikey · Authorization · Prefer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return=representation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760720" y="1965960"/>
            <a:ext cx="5943600" cy="1828800"/>
          </a:xfrm>
          <a:prstGeom prst="roundRect">
            <a:avLst>
              <a:gd name="adj" fmla="val 3500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07608" y="2441448"/>
            <a:ext cx="5449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apikey:        {{$env.SUPABASE_SERVICE_ROLE_KEY}}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{{$env.SUPABASE_SERVICE_ROLE_KEY}}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 application/json</a:t>
            </a:r>
            <a:endParaRPr lang="en-US" sz="10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Prefer:        return=representation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02920" y="3977640"/>
            <a:ext cx="11201400" cy="2194560"/>
          </a:xfrm>
          <a:prstGeom prst="roundRect">
            <a:avLst>
              <a:gd name="adj" fmla="val 2917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409651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(JSON) — 파싱 노드의 값 매핑, status 는 draft 고정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" y="4453128"/>
            <a:ext cx="107076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     "{{ $json.title }}",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"summary":    "{{ $json.summary }}",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      "{{ $json.body }}",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"source":     "{{ $json.source }}",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"source_url": "{{ $json.source_url }}",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"news_date":  "{{ $json.news_date }}",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    "draft"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응답(return=representation)에서 새 행의 id 를 받아 다음 Telegram 버튼에 사용합니다.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AA4D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2AA4D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알림 — HTTP Request (버튼 포함)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· 노드 7 / 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36631" y="50292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2AA4DD"/>
          </a:solidFill>
          <a:ln/>
        </p:spPr>
      </p:sp>
      <p:sp>
        <p:nvSpPr>
          <p:cNvPr id="9" name="Text 7"/>
          <p:cNvSpPr/>
          <p:nvPr/>
        </p:nvSpPr>
        <p:spPr>
          <a:xfrm>
            <a:off x="10536631" y="502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4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https://api.telegram.org/bot{{$env.TELEGRAM_BOT_TOKEN}}/sendMessage   ·   Body Content Type: JSON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11201400" cy="3657600"/>
          </a:xfrm>
          <a:prstGeom prst="roundRect">
            <a:avLst>
              <a:gd name="adj" fmla="val 1750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49631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(JSON) — inline_keyboard 로 공개/보관/수정 버튼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52928"/>
            <a:ext cx="107076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"chat_id": "{{$env.TELEGRAM_CHAT_ID}}",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"parse_mode": "HTML",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"text": "📰 &lt;b&gt;새 뉴스 초안&lt;/b&gt;\n\n&lt;b&gt;{{ $json.title }}&lt;/b&gt;\n{{ $json.summary }}\n\n출처: {{ $json.source }}",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"reply_markup": {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"inline_keyboard": [[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"text": "✅ 공개", "callback_data": "publish:{{ $json.id }}" },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"text": "🗑 보관", "callback_data": "archive:{{ $json.id }}" },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"text": "✏️ 수정", "url": "https://edit.digital-rescue.com/editor/news" }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]]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callback_data 는 64바이트 제한 — publish:&lt;uuid&gt; 형태면 안전.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572000" cy="4572000"/>
          </a:xfrm>
          <a:prstGeom prst="ellipse">
            <a:avLst/>
          </a:prstGeom>
          <a:solidFill>
            <a:srgbClr val="12B5A6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C23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0"/>
            <a:ext cx="146304" cy="91440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2 — 게시 처리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07008" y="3950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버튼 한 번으로 공개/보관 + 메인 페이지 즉시 반영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07008" y="4800600"/>
            <a:ext cx="2212848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48006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Trigger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21024" y="4800600"/>
            <a:ext cx="1664208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48006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callback 파싱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4800600"/>
            <a:ext cx="1115568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48006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03136" y="4800600"/>
            <a:ext cx="1993392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48006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PATCH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97696" y="48006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1C2347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696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revalidate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AA4D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2AA4D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Trigger (callback 수신)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2 · 노드 1 / 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632643" y="50292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2AA4DD"/>
          </a:solidFill>
          <a:ln/>
        </p:spPr>
      </p:sp>
      <p:sp>
        <p:nvSpPr>
          <p:cNvPr id="9" name="Text 7"/>
          <p:cNvSpPr/>
          <p:nvPr/>
        </p:nvSpPr>
        <p:spPr>
          <a:xfrm>
            <a:off x="10632643" y="502920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A4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설정값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5669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Credential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워크플로 1과 같은 봇 토큰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Trigger On (Updates)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Callback Query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Download Images/Files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00800" y="201168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A4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56032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알림의 ✅공개 / 🗑보관 버튼을 누르면 callback_query 이벤트가 이 노드로 들어옵니다.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버튼에 담긴 callback_data( 예: publish:‹uuid› )를 다음 노드에서 파싱합니다.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FA92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EFA92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callback_data 파싱 — Code 노드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2 · 노드 2 / 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36631" y="50292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EFA92B"/>
          </a:solidFill>
          <a:ln/>
        </p:spPr>
      </p:sp>
      <p:sp>
        <p:nvSpPr>
          <p:cNvPr id="9" name="Text 7"/>
          <p:cNvSpPr/>
          <p:nvPr/>
        </p:nvSpPr>
        <p:spPr>
          <a:xfrm>
            <a:off x="10536631" y="502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11201400" cy="2743200"/>
          </a:xfrm>
          <a:prstGeom prst="roundRect">
            <a:avLst>
              <a:gd name="adj" fmla="val 2333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85623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(JavaScript)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212848"/>
            <a:ext cx="10707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cq = $json.callback_query;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[action, id] = (cq.data || '').split(':');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json: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action,                       // 'publish' | 'archive'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                           // news_items.id (uuid)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callback_query_id: cq.id,     // answerCallbackQuery 에 사용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Switch 노드에서 action 값으로 분기합니다.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8B6CE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8B6CE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분기 + 공개(publish) 처리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2 · 노드 3 / 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824667" y="502920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8B6CEF"/>
          </a:solidFill>
          <a:ln/>
        </p:spPr>
      </p:sp>
      <p:sp>
        <p:nvSpPr>
          <p:cNvPr id="9" name="Text 7"/>
          <p:cNvSpPr/>
          <p:nvPr/>
        </p:nvSpPr>
        <p:spPr>
          <a:xfrm>
            <a:off x="10824667" y="502920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6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— ACTION 으로 분기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38528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 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{{$json.action}} = publish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1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 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0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{{$json.action}} = archive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76200" marT="50800" marB="50800" anchor="ctr">
                    <a:lnL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577840" y="1938528"/>
            <a:ext cx="6126480" cy="2011680"/>
          </a:xfrm>
          <a:prstGeom prst="roundRect">
            <a:avLst>
              <a:gd name="adj" fmla="val 3182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2057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 ① Supabase PATCH (HTTP Request)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24728" y="2414016"/>
            <a:ext cx="5632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 PATCH</a:t>
            </a:r>
            <a:endParaRPr lang="en-US" sz="10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{{$env.SUPABASE_URL}}/rest/v1/news_items</a:t>
            </a:r>
            <a:endParaRPr lang="en-US" sz="10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?id=eq.{{ $json.id }}</a:t>
            </a:r>
            <a:endParaRPr lang="en-US" sz="10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 apikey · Authorization (service_role)</a:t>
            </a:r>
            <a:endParaRPr lang="en-US" sz="10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Content-Type: application/json · Prefer: return=minimal</a:t>
            </a:r>
            <a:endParaRPr lang="en-US" sz="10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{ "status": "published",</a:t>
            </a:r>
            <a:endParaRPr lang="en-US" sz="10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"published_at": "{{ $now.toISO() }}" }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502920" y="4160520"/>
            <a:ext cx="11201400" cy="1783080"/>
          </a:xfrm>
          <a:prstGeom prst="roundRect">
            <a:avLst>
              <a:gd name="adj" fmla="val 3590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427939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 ② 캐시 무효화 (HTTP Request) — 메인 페이지 즉시 반영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" y="4636008"/>
            <a:ext cx="10707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 GET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{{$env.SITE_URL}}/api/revalidate?secret={{$env.REVALIDATE_SECRET}}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응답 {"revalidated":true} 확인. secret 불일치 시 401.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2AA4D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03504" cy="603504"/>
          </a:xfrm>
          <a:prstGeom prst="ellipse">
            <a:avLst/>
          </a:prstGeom>
          <a:solidFill>
            <a:srgbClr val="2AA4D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3291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보관(archive) + 콜백 응답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6736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2 · 노드 4 / 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36631" y="50292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2AA4DD"/>
          </a:solidFill>
          <a:ln/>
        </p:spPr>
      </p:sp>
      <p:sp>
        <p:nvSpPr>
          <p:cNvPr id="9" name="Text 7"/>
          <p:cNvSpPr/>
          <p:nvPr/>
        </p:nvSpPr>
        <p:spPr>
          <a:xfrm>
            <a:off x="10536631" y="502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1201400" cy="1691640"/>
          </a:xfrm>
          <a:prstGeom prst="roundRect">
            <a:avLst>
              <a:gd name="adj" fmla="val 3784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181051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 분기 — Supabase PATCH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2167128"/>
            <a:ext cx="10707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 PATCH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{{$env.SUPABASE_URL}}/rest/v1/news_items?id=eq.{{ $json.id }}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 apikey · Authorization (service_role) · Content-Type: application/json</a:t>
            </a:r>
            <a:endParaRPr lang="en-US" sz="116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6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{ "status": "archived" }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11201400" cy="1828800"/>
          </a:xfrm>
          <a:prstGeom prst="roundRect">
            <a:avLst>
              <a:gd name="adj" fmla="val 3500"/>
            </a:avLst>
          </a:prstGeom>
          <a:solidFill>
            <a:srgbClr val="0E1430"/>
          </a:solidFill>
          <a:ln w="12700">
            <a:solidFill>
              <a:srgbClr val="2A336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73075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A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 마무리 — answerCallbackQuery (필수)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4087368"/>
            <a:ext cx="10707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https://api.telegram.org/bot{{$env.TELEGRAM_BOT_TOKEN}}/answerCallbackQuery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{ "callback_query_id": "{{ $json.callback_query_id }}",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"처리되었습니다" }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D8D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(선택) editMessageReplyMarkup 로 버튼을 제거해 중복 클릭 방지.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체크리스트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후 아래 순서로 한 번씩 확인하세요.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46504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/api/revalidate?secret=… 가 {"revalidated":true} 반환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05456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505456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1 수동 실행 → news_items 에 draft 1건 생성 + Telegram 알림 도착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56432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648456"/>
            <a:ext cx="457200" cy="457200"/>
          </a:xfrm>
          <a:prstGeom prst="ellipse">
            <a:avLst/>
          </a:prstGeom>
          <a:solidFill>
            <a:srgbClr val="2AA4D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456432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✅공개 탭 → 메인 페이지 새로고침 시 목록 최상단에 노출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407408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EFA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440740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edit.digital-rescue.com/editor/news 에서 draft/published 목록·수정·삭제 동작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358384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7F1"/>
            </a:solidFill>
            <a:prstDash val="solid"/>
          </a:ln>
          <a:effectLst>
            <a:outerShdw sx="100000" sy="100000" kx="0" ky="0" algn="bl" rotWithShape="0" blurRad="114300" dist="38100" dir="5400000">
              <a:srgbClr val="0B102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550408"/>
            <a:ext cx="457200" cy="457200"/>
          </a:xfrm>
          <a:prstGeom prst="ellipse">
            <a:avLst/>
          </a:prstGeom>
          <a:solidFill>
            <a:srgbClr val="8B6CE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5358384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3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기사가 다음 주기에 다시 와도 중복 INSERT 안 됨 (source_url UNIQUE)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Digital Rescue · n8n 뉴스 자동화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4937760" cy="4937760"/>
          </a:xfrm>
          <a:prstGeom prst="ellipse">
            <a:avLst/>
          </a:prstGeom>
          <a:solidFill>
            <a:srgbClr val="12B5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46304" cy="91440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3000" y="201168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1C2347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자동화로 전환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2651760"/>
            <a:ext cx="4553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품질이 안정되면 워크플로 1의 INSERT를 status:'published'로 변경</a:t>
            </a:r>
            <a:endParaRPr lang="en-US" sz="12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단계 없이 즉시 게시 (Telegram은 사후 통보로)</a:t>
            </a:r>
            <a:endParaRPr lang="en-US" sz="12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전까지는 Telegram 버튼/CMS 검수를 유지 권장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4617720" cy="2377440"/>
          </a:xfrm>
          <a:prstGeom prst="roundRect">
            <a:avLst>
              <a:gd name="adj" fmla="val 3462"/>
            </a:avLst>
          </a:prstGeom>
          <a:solidFill>
            <a:srgbClr val="1C2347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194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A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조정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39128" y="2651760"/>
            <a:ext cx="4050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페이지당 개수: DigitalResourcesSection.tsx 의 NEWS_PER_PAGE</a:t>
            </a:r>
            <a:endParaRPr lang="en-US" sz="12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노출 건수: lib/news.ts 의 PUBLISHED_NEWS_LIMIT (기본 40)</a:t>
            </a:r>
            <a:endParaRPr lang="en-US" sz="12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뉴스는 CMS에서 '보관' 처리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43000" y="4572000"/>
            <a:ext cx="9921240" cy="1554480"/>
          </a:xfrm>
          <a:prstGeom prst="roundRect">
            <a:avLst>
              <a:gd name="adj" fmla="val 5294"/>
            </a:avLst>
          </a:prstGeom>
          <a:solidFill>
            <a:srgbClr val="1C2347"/>
          </a:solidFill>
          <a:ln w="12700">
            <a:solidFill>
              <a:srgbClr val="2C3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754880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4B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35608" y="5212080"/>
            <a:ext cx="9354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미반영 → /api/revalidate 호출 확인 + Vercel REVALIDATE_SECRET 일치 확인</a:t>
            </a:r>
            <a:endParaRPr lang="en-US" sz="125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7CE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401/403 → service_role 키/헤더(apikey, Authorization) 확인  ·  중복 → source_url UNIQUE 정상 동작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8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텍스트 가이드: docs/04_news_automation.md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뉴스 자동화 세팅 가이드</dc:title>
  <dc:subject>PptxGenJS Presentation</dc:subject>
  <dc:creator>Digital Rescue</dc:creator>
  <cp:lastModifiedBy>Digital Rescue</cp:lastModifiedBy>
  <cp:revision>1</cp:revision>
  <dcterms:created xsi:type="dcterms:W3CDTF">2026-06-13T01:56:39Z</dcterms:created>
  <dcterms:modified xsi:type="dcterms:W3CDTF">2026-06-13T01:56:39Z</dcterms:modified>
</cp:coreProperties>
</file>